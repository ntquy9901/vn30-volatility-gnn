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DU BAO BIEN DONG THUC HIEN (REALIZED VOLATILITY)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BBCCFF"/>
                </a:solidFill>
              </a:rPr>
              <a:t>Co phieu VN30 — Danh gia Salesforce Moirai2 &amp; Graph Neural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743200"/>
            <a:ext cx="3959352" cy="54864"/>
          </a:xfrm>
          <a:prstGeom prst="rect">
            <a:avLst/>
          </a:prstGeom>
          <a:solidFill>
            <a:srgbClr val="E69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FF"/>
                </a:solidFill>
              </a:rPr>
              <a:t>Du lieu: VN30, 2019-2026  |  Test set: 2026-01-05 -&gt; 2026-04-07 (62 ngay, 30 co phieu, 1,860 cap)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Luan van tot nghiep  —  2026-05-16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CCFF"/>
                </a:solidFill>
              </a:rPr>
              <a:t>HCMUS  —  Khoa Cong nghe Thong 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Tong Quan Nghien Cuu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Muc tieu, du lieu, cau hoi nghien cuu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530352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EB4"/>
                </a:solidFill>
              </a:rPr>
              <a:t>Muc Tieu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81912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Danh gia Moirai2 (foundation model) cho du bao RV tren VN30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So sanh: embedding vs IQR quantile spread vs HAR-RV (classical)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Can thiep gi cua foundation model mang lai gia tri cho bai toan nay?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Tim cach thu hep khoang cach giua neural models va HAR-RV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70432"/>
            <a:ext cx="594360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1615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EB4"/>
                </a:solidFill>
              </a:rPr>
              <a:t>Du Lieu &amp; Thiet 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81912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30 co phieu VN30, OHLCV daily, ~2,500 ngay (2019-2026)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Train: full history per-stock HOAC batch 2,896 mau (tat ca stocks)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Test: 62 ngay giao dich, 01/2026-04/2026 = 1,860 cap (date, stock)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Nhan (label): RV h=20 = std(log-return, next 20 ngay)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Metrics danh gia: MAE, R2, Pearson_r, QLIKE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94760"/>
            <a:ext cx="116128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EB4"/>
                </a:solidFill>
              </a:rPr>
              <a:t>12 Mo Hinh Duoc Danh Gia (3 nhom chinh)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1430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Classical baselines: HAR-RV (OLS per-stock), LSTM (per-stock), GARCH(1,1) (MLE per-stock)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Moirai2 zero-shot: (A) Embedding 384-dim → MLP/GNN   (B) IQR = q(0.9) - q(0.1) lam proxy RV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Neural (walk-forward): MLP+Moirai2, GNN+Moirai2 [ham chuan du lieu 30 mau/buoc]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333"/>
                </a:solidFill>
              </a:rPr>
              <a:t>Neural (batch): MLP(RV6), GNN(RV6), MLP(Moirai2+RV6), GNN(Moirai2+RV6), MLP/GNN(Moirai2+RV3)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Kien Truc Thi Nghiem — Tong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Ba nhanh song song: Classical | Moirai2+Neural | GARCH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11612880" cy="5486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VN30 OHLCV Data  —  30 co phieu  |  ~2,500 ngay giao dich (2019-2026)  |  Close price daily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2744" y="168249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984248"/>
            <a:ext cx="4663440" cy="475488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8768" y="2066543"/>
            <a:ext cx="44439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Log Returns:  r_t = log( Close_t / Close_{t-1}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871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7A3C"/>
                </a:solidFill>
              </a:rPr>
              <a:t>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4871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B0E91"/>
                </a:solidFill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871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45200"/>
                </a:solidFill>
              </a:rPr>
              <a:t>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852928"/>
            <a:ext cx="3520440" cy="11430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2916936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RV Features (6-dim)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3291840"/>
            <a:ext cx="3374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log(RV_d)  log(RV_w)  log(RV_m)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log(RV_q=60d)  corr_vnindex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jump_ratio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(Corsi 2009 + mo rong)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852928"/>
            <a:ext cx="4069080" cy="1143000"/>
          </a:xfrm>
          <a:prstGeom prst="rect">
            <a:avLst/>
          </a:prstGeom>
          <a:solidFill>
            <a:srgbClr val="5B0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2916936"/>
            <a:ext cx="3922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Moirai2-Small  (FROZEN, 11.4M params)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3291840"/>
            <a:ext cx="39227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Context 200 ngay  →  14 patches  →  Decoder Transformer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Output A: Embedding 384-dim (patch cuoi cung, pos -2)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Output B: IQR = q(0.9) - q(0.1)  [zero-shot proxy RV]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852928"/>
            <a:ext cx="3291840" cy="1143000"/>
          </a:xfrm>
          <a:prstGeom prst="rect">
            <a:avLst/>
          </a:prstGeom>
          <a:solidFill>
            <a:srgbClr val="C4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916936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GARCH(1,1)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3291840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MLE per-stock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s^2_t = w + a*e^2_{t-1}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         + b*s^2_{t-1}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(benchmark truyen thong)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1660" y="4023360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7A3C"/>
                </a:solidFill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7900" y="4023360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0E91"/>
                </a:solidFill>
              </a:rP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4023360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45200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325112"/>
            <a:ext cx="3520440" cy="1234440"/>
          </a:xfrm>
          <a:prstGeom prst="rect">
            <a:avLst/>
          </a:prstGeom>
          <a:solidFill>
            <a:srgbClr val="0D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" y="4370832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HAR-RV (OLS)  /  LSTM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199" y="435254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69B1A"/>
                </a:solidFill>
              </a:rPr>
              <a:t>BEST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" y="4736592"/>
            <a:ext cx="33741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Per-stock, full history (~2,500 mau/stock)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HAR: 3 tham so OLS (BLUE estimator)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MAE: 0.0010 / 0.0011   R2: 0.971 / 0.967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4325112"/>
            <a:ext cx="4069080" cy="1234440"/>
          </a:xfrm>
          <a:prstGeom prst="rect">
            <a:avLst/>
          </a:prstGeom>
          <a:solidFill>
            <a:srgbClr val="3E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3672" y="4370832"/>
            <a:ext cx="3922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MLP / GNN  (batch or walk-forward)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3672" y="4736592"/>
            <a:ext cx="39227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Input: Emb(384)+RV3/RV6 | IQR zero-shot | RV6 only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Batch 2,896 mau | Walk-fwd 30 mau/buoc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MAE: 0.0066-0.0143   R2: -1.86 to +0.28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4325112"/>
            <a:ext cx="3291840" cy="1234440"/>
          </a:xfrm>
          <a:prstGeom prst="rect">
            <a:avLst/>
          </a:prstGeom>
          <a:solidFill>
            <a:srgbClr val="93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14232" y="4370832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GARCH(1,1)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4232" y="4736592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MLE per-stock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</a:rPr>
              <a:t>MAE: 0.0071   R2: +0.159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2744" y="5577840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5879592"/>
            <a:ext cx="6675120" cy="502920"/>
          </a:xfrm>
          <a:prstGeom prst="rect">
            <a:avLst/>
          </a:prstGeom>
          <a:solidFill>
            <a:srgbClr val="E69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2928" y="5961888"/>
            <a:ext cx="6455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6C"/>
                </a:solidFill>
              </a:rPr>
              <a:t>Realized Volatility Prediction  |  h = 20 ngay  =  std(log-return, next 20 ngay)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Kien Truc Moirai2 — Hai Che Do Su 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Frozen decoder-only transformer: (A) Embedding extraction  vs  (B) IQR zero-shot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50292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Log Return Series  —  200 observations (context window)  —  daily 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2744" y="1664208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975104"/>
            <a:ext cx="7589520" cy="475488"/>
          </a:xfrm>
          <a:prstGeom prst="rect">
            <a:avLst/>
          </a:prstGeom>
          <a:solidFill>
            <a:srgbClr val="34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05740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Patcher:  200 obs / patch_size=16  →  13 context patches  +  1 MASK token  =  14 patches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2744" y="2468880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39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2788920"/>
            <a:ext cx="548640" cy="457200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2788920"/>
            <a:ext cx="548640" cy="4572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2862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788920"/>
            <a:ext cx="548640" cy="457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2" y="2862072"/>
            <a:ext cx="493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26440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6AA"/>
                </a:solidFill>
              </a:rPr>
              <a:t>13 context patches (causal attention)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32644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← predict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2744" y="3291840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3593592"/>
            <a:ext cx="8503920" cy="502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65960" y="367588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Decoder-only Transformer  (causal masked attention, 11.4M params)  —  FROZEN trong toan bo thi nghiem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1148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7A3C"/>
                </a:solidFill>
              </a:rPr>
              <a:t>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1148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B0E91"/>
                </a:solidFill>
              </a:rPr>
              <a:t>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480560"/>
            <a:ext cx="5486400" cy="1737360"/>
          </a:xfrm>
          <a:prstGeom prst="rect">
            <a:avLst/>
          </a:prstGeom>
          <a:solidFill>
            <a:srgbClr val="0D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526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Approach A — Embedding Extraction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4919472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Lay hidden state tai patch cuoi cung (pos -2: last_context)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Kich thuoc: 384-dim per stock per window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Dung lam node features cho MLP / GNN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Ket qua: median|corr(emb, RV)| = 0.128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  Them vao RV6: MAE tang 8% (them nhieu!)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480560"/>
            <a:ext cx="5486400" cy="1737360"/>
          </a:xfrm>
          <a:prstGeom prst="rect">
            <a:avLst/>
          </a:prstGeom>
          <a:solidFill>
            <a:srgbClr val="3E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4526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Approach B — IQR Quantile Spread (Zero-shot)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4919472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Lay output du bao: QuantileForecast (9 quantile levels)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q0.1, q0.2, q0.3, ..., q0.9  (exact, khong sampling)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IQR_t = q(0.9) - q(0.1)  [80% prediction interval width]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Scale: IQR x 0.442 ≈ RV (mean(RV)/mean(IQR))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  Pearson_r = 0.557 — bang MLP trained (r=0.551)!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236208"/>
            <a:ext cx="5486400" cy="411480"/>
          </a:xfrm>
          <a:prstGeom prst="rect">
            <a:avLst/>
          </a:prstGeom>
          <a:solidFill>
            <a:srgbClr val="AA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63002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Embedding weak — domain gap (no equity pretraining)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6236208"/>
            <a:ext cx="5486400" cy="41148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63002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IQR competitive — uncertainty calibration hoat dong!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Ket Qua — Tat Ca 12 Mo Hinh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Test set: 62 ngay x 30 co phieu = 1,860 cap | sap xep theo MAE tang dan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926080" cy="36118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179576"/>
            <a:ext cx="285292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 hinh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143000"/>
            <a:ext cx="1600200" cy="36118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91256" y="1179576"/>
            <a:ext cx="1527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143000"/>
            <a:ext cx="1600200" cy="36118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1456" y="1179576"/>
            <a:ext cx="1527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143000"/>
            <a:ext cx="960120" cy="36118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179576"/>
            <a:ext cx="88696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143000"/>
            <a:ext cx="960120" cy="36118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1775" y="1179576"/>
            <a:ext cx="88696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143000"/>
            <a:ext cx="1234440" cy="36118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179576"/>
            <a:ext cx="116128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Pearson_r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143000"/>
            <a:ext cx="960120" cy="36118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6336" y="1179576"/>
            <a:ext cx="88696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QLIKE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504188"/>
            <a:ext cx="292608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1531620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HAR-RV (OLS) ***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1504188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82112" y="1531620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Full/stock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504188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531620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RV_d,w,m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504188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1531620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0.0010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504188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2631" y="1531620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+0.971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1504188"/>
            <a:ext cx="123444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1531620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0.985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1504188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1531620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1865376"/>
            <a:ext cx="292608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1892807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LSTM ***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1865376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82112" y="1892807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Full/stock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1865376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82312" y="1892807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same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1865376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1892807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0.0011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865376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42631" y="1892807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+0.967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1865376"/>
            <a:ext cx="123444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1892807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0.983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1865376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37192" y="1892807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2226564"/>
            <a:ext cx="292608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" y="2253996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MLP (RV6 only) **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4680" y="2226564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82112" y="2253996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Batch 2896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2226564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82312" y="2253996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6 RV ext.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2226564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2512" y="2253996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0.0066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2226564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42631" y="2253996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+0.278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2226564"/>
            <a:ext cx="123444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02752" y="2253996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0.551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760" y="2226564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37192" y="2253996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0.328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2587752"/>
            <a:ext cx="292608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6032" y="2615184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Moirai2 IQR (zero-shot)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54680" y="2587752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82112" y="2615184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Khong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0" y="2587752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82312" y="2615184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q0.9-q0.1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2587752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82512" y="2615184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0.0067+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0" y="2587752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42631" y="2615184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+0.161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75320" y="2587752"/>
            <a:ext cx="123444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02752" y="2615184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0.557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2587752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37192" y="2615184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  — 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2948940"/>
            <a:ext cx="292608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6032" y="2976372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GARCH(1,1)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54680" y="2948940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82112" y="2976372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Per-stk MLE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54880" y="2948940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82312" y="2976372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55080" y="2948940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82512" y="2976372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0.0071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15200" y="2948940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42631" y="2976372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+0.159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75320" y="2948940"/>
            <a:ext cx="123444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02752" y="2976372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0.535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09760" y="2948940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37192" y="2976372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0.301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3310128"/>
            <a:ext cx="292608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56032" y="3337560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MLP (Moirai2+RV6)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54680" y="3310128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182112" y="3337560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Batch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754880" y="3310128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82312" y="3337560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390-dim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55080" y="3310128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82512" y="3337560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0.0072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0" y="3310128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42631" y="3337560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+0.065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75320" y="3310128"/>
            <a:ext cx="123444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02752" y="3337560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0.505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509760" y="3310128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537192" y="3337560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0.259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3671316"/>
            <a:ext cx="292608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56032" y="3698748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Batch GNN (Moirai2+RV3)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54680" y="3671316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182112" y="3698748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Batch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54880" y="3671316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82312" y="3698748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387-dim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55080" y="3671316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82512" y="3698748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0.0074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00" y="3671316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42631" y="3698748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+0.041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75320" y="3671316"/>
            <a:ext cx="123444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02752" y="3698748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0.357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509760" y="3671316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537192" y="3698748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0.399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8600" y="4032504"/>
            <a:ext cx="292608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56032" y="4059936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Batch MLP (Moirai2+RV3)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32504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82112" y="4059936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Batch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754880" y="4032504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782312" y="4059936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387-dim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355080" y="4032504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82512" y="4059936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0.0078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315200" y="4032504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342631" y="4059936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-0.137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275320" y="4032504"/>
            <a:ext cx="123444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302752" y="4059936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0.425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509760" y="4032504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537192" y="4059936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0.290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28600" y="4393692"/>
            <a:ext cx="292608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56032" y="4421124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GNN (RV6 only) **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154680" y="4393692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182112" y="4421124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Batch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754880" y="4393692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82312" y="4421124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6 RV ext.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355080" y="4393692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382512" y="4421124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0.0084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315200" y="4393692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342631" y="4421124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-0.194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275320" y="4393692"/>
            <a:ext cx="123444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302752" y="4421124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0.396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509760" y="4393692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537192" y="4421124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0.328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28600" y="4754880"/>
            <a:ext cx="292608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56032" y="4782312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GNN (Moirai2+RV6)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154680" y="4754880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182112" y="4782312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Batch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754880" y="4754880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782312" y="4782312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390-dim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355080" y="4754880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382512" y="4782312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0.0091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315200" y="4754880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342631" y="4782312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-0.519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275320" y="4754880"/>
            <a:ext cx="123444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302752" y="4782312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0.377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509760" y="4754880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537192" y="4782312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0.345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28600" y="5116068"/>
            <a:ext cx="292608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56032" y="5143500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WalkFwd MLP+Moirai2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154680" y="5116068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182112" y="5143500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Walk-fwd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754880" y="5116068"/>
            <a:ext cx="160020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782312" y="5143500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387-dim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355080" y="5116068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382512" y="5143500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0.0121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315200" y="5116068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342631" y="5143500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-1.077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275320" y="5116068"/>
            <a:ext cx="123444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302752" y="5143500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0.239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509760" y="5116068"/>
            <a:ext cx="960120" cy="36118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537192" y="5143500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1.444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28600" y="5477256"/>
            <a:ext cx="292608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56032" y="5504688"/>
            <a:ext cx="287121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WalkFwd GNN+Moirai2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154680" y="5477256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182112" y="5504688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Walk-fwd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754880" y="5477256"/>
            <a:ext cx="160020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782312" y="5504688"/>
            <a:ext cx="154533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387-dim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355080" y="5477256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82512" y="5504688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0.0143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315200" y="5477256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342631" y="5504688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-1.856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275320" y="5477256"/>
            <a:ext cx="123444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302752" y="5504688"/>
            <a:ext cx="117957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0.117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509760" y="5477256"/>
            <a:ext cx="960120" cy="361188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537192" y="5504688"/>
            <a:ext cx="905256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1.898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28600" y="5687568"/>
            <a:ext cx="10241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65760" y="574243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*** Per-stock full history training (~2,500 mau/stock, OLS 3 params)   ** Batch 2,896 mau chung 30 stocks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+ MAE sau scale correction (IQR x 0.442); raw MAE = 0.0323   | Bold = best per metric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Walk-fwd = 30 mau/buoc (nut that training)  |  Batch = 2,896 mau tong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0607040" y="1143000"/>
            <a:ext cx="1371600" cy="5413248"/>
          </a:xfrm>
          <a:prstGeom prst="rect">
            <a:avLst/>
          </a:prstGeom>
          <a:solidFill>
            <a:srgbClr val="F0F4FF"/>
          </a:solidFill>
          <a:ln w="9525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0698480" y="1188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Best: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698480" y="1481328"/>
            <a:ext cx="1188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MAE↓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0.0010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R2↑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+0.971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r↑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0.985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QLIKE↓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0.012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HAR-RV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wins 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Ket Qua — Truc Quan Hoa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Trai: MAE/RMSE/QLIKE so sanh 5 mo hinh chinh  |  Phai: R2 per stock x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ot_bar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400800" cy="4937760"/>
          </a:xfrm>
          <a:prstGeom prst="rect">
            <a:avLst/>
          </a:prstGeom>
        </p:spPr>
      </p:pic>
      <p:pic>
        <p:nvPicPr>
          <p:cNvPr id="7" name="Picture 6" descr="plot_r2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5120640" cy="5577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6583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44444"/>
                </a:solidFill>
              </a:rPr>
              <a:t>Chi HAR-RV va LSTM co R2 &gt; 0 tren tat ca 30 co phieu (xanh la). Walk-fwd models: R2 am (do).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Finding 1 — Che Do Training La Nut That Chinh (H2)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Walk-forward vs Batch: chenh lech 35-48% MAE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530352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AA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2222"/>
                </a:solidFill>
              </a:rPr>
              <a:t>Walk-Forward (che do cu)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30 samples / gradient step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(30 stocks x 1 ngay giao dich)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MLP: MAE = 0.0121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GNN: MAE = 0.0143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Ly do: data starvation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Moi window chi them 1 ngay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Model khong the hoc duoc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834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76EB4"/>
                </a:solidFill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170432"/>
            <a:ext cx="530352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216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Batch Training (cai thien)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00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2,896 samples toan bo (tat ca stocks)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(30 stocks, chung weights)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MLP: MAE = 0.0066  (-45%)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GNN: MAE = 0.0084  (-41%)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Gop toan bo lich su 30 stocks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Hoc duoc patterns chung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Nhung van it hon HAR ~30x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468112"/>
            <a:ext cx="11612880" cy="10789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51383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664400"/>
                </a:solidFill>
              </a:rPr>
              <a:t>HAR-OLS: ~75,000 cap hoc (2,500 ngay x 30 stocks, fit rieng tung stock)  vs  Neural batch: ~97 mau/stock (2,896/30 shared)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64400"/>
                </a:solidFill>
              </a:rPr>
              <a:t>=&gt; Gap 6.5x MAE la co cau truc — khong the giai quyet chi bang architecture phuc tap 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Finding 2 &amp; 3 — Embedding Them Nhieu | RV6 &gt; RV3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Domain gap giai thich tai sao median|corr(embedding,RV)|=0.128; RV6 giam 15% MAE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62356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AA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2222"/>
                </a:solidFill>
              </a:rPr>
              <a:t>Finding 2 — Embedding Moirai2 Them Nhieu (+8-9%)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1920240" cy="356616"/>
          </a:xfrm>
          <a:prstGeom prst="rect">
            <a:avLst/>
          </a:prstGeom>
          <a:solidFill>
            <a:srgbClr val="AA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572768"/>
            <a:ext cx="18470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 hinh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536192"/>
            <a:ext cx="1554480" cy="356616"/>
          </a:xfrm>
          <a:prstGeom prst="rect">
            <a:avLst/>
          </a:prstGeom>
          <a:solidFill>
            <a:srgbClr val="AA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1136" y="1572768"/>
            <a:ext cx="148132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536192"/>
            <a:ext cx="1828800" cy="356616"/>
          </a:xfrm>
          <a:prstGeom prst="rect">
            <a:avLst/>
          </a:prstGeom>
          <a:solidFill>
            <a:srgbClr val="AA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572768"/>
            <a:ext cx="17556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92807"/>
            <a:ext cx="192024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1" y="1920239"/>
            <a:ext cx="1865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MLP (RV6 only)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1892807"/>
            <a:ext cx="155448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1991" y="1920239"/>
            <a:ext cx="14996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6-dim RV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1892807"/>
            <a:ext cx="182880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6472" y="1920239"/>
            <a:ext cx="17739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0.0066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49424"/>
            <a:ext cx="1920240" cy="35661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1" y="2276856"/>
            <a:ext cx="1865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MLP (Moirai2+RV6)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2249424"/>
            <a:ext cx="1554480" cy="35661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21991" y="2276856"/>
            <a:ext cx="14996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390-dim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2249424"/>
            <a:ext cx="1828800" cy="35661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2276856"/>
            <a:ext cx="17739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0.0072 (+8.4%)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06039"/>
            <a:ext cx="192024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1" y="2633471"/>
            <a:ext cx="1865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GNN (RV6 only)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2606039"/>
            <a:ext cx="155448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21991" y="2633471"/>
            <a:ext cx="14996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6-dim RV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2606039"/>
            <a:ext cx="182880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76472" y="2633471"/>
            <a:ext cx="17739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0.0084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962656"/>
            <a:ext cx="1920240" cy="35661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1" y="2990088"/>
            <a:ext cx="1865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GNN (Moirai2+RV6)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62656"/>
            <a:ext cx="1554480" cy="35661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21991" y="2990088"/>
            <a:ext cx="14996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390-dim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2962656"/>
            <a:ext cx="1828800" cy="35661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76472" y="2990088"/>
            <a:ext cx="17739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0.0091 (+8.1%)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090672"/>
            <a:ext cx="5623560" cy="299008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31363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3C"/>
                </a:solidFill>
              </a:rPr>
              <a:t>Finding 3 — RV6 (6-dim) tot hon RV3 (3-dim): -15% 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493008"/>
            <a:ext cx="1600200" cy="34747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" y="3529584"/>
            <a:ext cx="1527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19" y="3493008"/>
            <a:ext cx="2103120" cy="34747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11095" y="3529584"/>
            <a:ext cx="2029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Cong thuc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77639" y="3493008"/>
            <a:ext cx="1600200" cy="34747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14215" y="3529584"/>
            <a:ext cx="1527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Nguon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840480"/>
            <a:ext cx="1600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1" y="3867912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log(RV_d)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19" y="3840480"/>
            <a:ext cx="21031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01951" y="3867912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std(r, 1 ngay)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7639" y="3840480"/>
            <a:ext cx="1600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5072" y="3867912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Corsi 2009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187952"/>
            <a:ext cx="160020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1751" y="4215384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log(RV_w)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74519" y="4187952"/>
            <a:ext cx="210312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01951" y="4215384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mean(RVd, 5 ngay)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77639" y="4187952"/>
            <a:ext cx="160020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05072" y="4215384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Corsi 2009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535424"/>
            <a:ext cx="1600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1" y="4562856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log(RV_m)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74519" y="4535424"/>
            <a:ext cx="21031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01951" y="4562856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mean(RVd, 22 ngay)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77639" y="4535424"/>
            <a:ext cx="1600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5072" y="4562856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Corsi 2009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882896"/>
            <a:ext cx="160020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1" y="4910328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log(RV_q)*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74519" y="4882896"/>
            <a:ext cx="210312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01951" y="4910328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mean(RVd, 60 ngay)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77639" y="4882896"/>
            <a:ext cx="160020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05072" y="4910328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Mo rong HAR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230368"/>
            <a:ext cx="1600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1751" y="5257800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corr_vnindex*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74519" y="5230368"/>
            <a:ext cx="21031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01951" y="525780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Pearson(stk,VNI,60d)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77639" y="5230368"/>
            <a:ext cx="1600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05072" y="5257800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Risk he thong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577840"/>
            <a:ext cx="160020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1751" y="5605272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jump_ratio*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74519" y="5577840"/>
            <a:ext cx="210312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01951" y="5605272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max(RVd-RVw,0)/RVd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77639" y="5577840"/>
            <a:ext cx="160020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05072" y="5605272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B-N&amp;S 2004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7472" y="5669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</a:rPr>
              <a:t>* 3 features mo rong ngoai HAR goc (RV_d, RV_w, RV_m)</a:t>
            </a:r>
          </a:p>
        </p:txBody>
      </p:sp>
      <p:pic>
        <p:nvPicPr>
          <p:cNvPr id="83" name="Picture 82" descr="diag_pooling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15568"/>
            <a:ext cx="6035040" cy="416052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989320" y="53218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444444"/>
                </a:solidFill>
              </a:rPr>
              <a:t>4 chien luoc pooling Moirai2 — tat ca deu yeu (median|corr| max 0.128)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89320" y="5687568"/>
            <a:ext cx="6035040" cy="365760"/>
          </a:xfrm>
          <a:prstGeom prst="rect">
            <a:avLst/>
          </a:prstGeom>
          <a:solidFill>
            <a:srgbClr val="AA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80760" y="574243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Nguyen nhan co cau: Moirai2 chua bao gio thay equity/RV data trong pretraining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Finding 5 — Moirai2 IQR: Zero-Shot Competitive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IQR = q(0.9)-q(0.1) bat duoc volatility clustering — khong can training, khong can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115568"/>
            <a:ext cx="5669280" cy="566928"/>
          </a:xfrm>
          <a:prstGeom prst="rect">
            <a:avLst/>
          </a:prstGeom>
          <a:solidFill>
            <a:srgbClr val="E8F4EC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IQR_t  =  q(0.9) - q(0.1)  of 1-step-ahead return forecast  →  proxy for RV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37360"/>
            <a:ext cx="2560320" cy="402336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773936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Phuong phap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737360"/>
            <a:ext cx="1188720" cy="402336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6" y="1773936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Pearson_r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737360"/>
            <a:ext cx="1188720" cy="402336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1773936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737360"/>
            <a:ext cx="1554480" cy="402336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773936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Training 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139696"/>
            <a:ext cx="2560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2167127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Moirai2 IQR (zero-shot)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139696"/>
            <a:ext cx="11887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0632" y="2167127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0.557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139696"/>
            <a:ext cx="11887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9352" y="2167127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0.0067*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139696"/>
            <a:ext cx="155448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8072" y="2167127"/>
            <a:ext cx="1499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Khong 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542032"/>
            <a:ext cx="2560320" cy="40233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569463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MLP (RV6, batch)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542032"/>
            <a:ext cx="1188720" cy="40233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0632" y="2569463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0.551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2542032"/>
            <a:ext cx="1188720" cy="40233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59352" y="2569463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0.0066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2542032"/>
            <a:ext cx="1554480" cy="40233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569463"/>
            <a:ext cx="1499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2,896 mau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944368"/>
            <a:ext cx="2560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" y="2971799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Embedding median|corr|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2944368"/>
            <a:ext cx="11887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0632" y="2971799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0.128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2944368"/>
            <a:ext cx="11887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59352" y="2971799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2944368"/>
            <a:ext cx="155448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2971799"/>
            <a:ext cx="1499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346704"/>
            <a:ext cx="2560320" cy="40233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3374136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HAR-RV (OLS)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3346704"/>
            <a:ext cx="1188720" cy="40233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70632" y="3374136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0.985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3346704"/>
            <a:ext cx="1188720" cy="40233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59352" y="3374136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0.0010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3346704"/>
            <a:ext cx="1554480" cy="402336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48072" y="3374136"/>
            <a:ext cx="1499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~2,500/stock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" y="3511296"/>
            <a:ext cx="5669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IQR khong can training, khong can feature engineering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Pearson_r IQR (0.557) = 4.4x cao hon embedding (0.128)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Scale factor 0.442 ≈ mean(RV)/mean(IQR)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  =&gt; IQR o log-return units, lon hon RV ~2.26x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Model hoc duoc heteroscedasticity (vol clustering)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  du pretraining khong co equity/RV data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* raw MAE = 0.0323; sau scale x0.442 = 0.0067</a:t>
            </a:r>
          </a:p>
        </p:txBody>
      </p:sp>
      <p:pic>
        <p:nvPicPr>
          <p:cNvPr id="49" name="Picture 48" descr="iqr_vs_r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15568"/>
            <a:ext cx="6035040" cy="47548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989320" y="591616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Trai: IQR raw vs RV (r=0.557, R2=-13.4)  |  Phai: IQR scaled vs RV (MAE=0.0067)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Finding 6 — Khoang Cach 6.5x voi HAR-RV La Co Cau Truc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HAR-RV theo sat true RV; neural models (walk-fwd) phang; batch models nhieu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120640" cy="5486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EB4"/>
                </a:solidFill>
              </a:rPr>
              <a:t>Tai sao HAR-RV vuot troi?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Per-stock OLS: 2,500 mau x 30 stocks (fit rieng)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Chi 3 tham so: [beta_d, beta_w, beta_m]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MAE=0.0010  R2=+0.971  Pearson_r=0.985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OLS = BLUE Estimator (Gauss-Markov theorem)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Khong the co linear model nao tot hon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voi cung du lieu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Neural batch: ~97 mau/stock (2,896/30)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=&gt; MLP(RV6): MAE=0.0066 [gap 6.5x]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Giai phap (lau dai):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  HAR-RS: them asymmetry, van OLS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  GNN+HAR: exploit cross-stock spillover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</a:rPr>
              <a:t>  Mo rong data: them stocks, them nam</a:t>
            </a:r>
          </a:p>
        </p:txBody>
      </p:sp>
      <p:pic>
        <p:nvPicPr>
          <p:cNvPr id="9" name="Picture 8" descr="plot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15568"/>
            <a:ext cx="6492240" cy="5074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623620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VCB, HPG, FPT: HAR-RV (xanh la) bam sat true RV (den). Walk-fwd models: phang; LSTM: 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Tai Sao Moirai2 Embedding Yeu? — Phan Tich Pretraining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GIFT-Eval Pretrain corpus: 4.5M series, 230B diem — khong co equity data thuc 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6459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207008"/>
            <a:ext cx="15727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170432"/>
            <a:ext cx="11887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6816" y="1207008"/>
            <a:ext cx="11155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Tan suat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170432"/>
            <a:ext cx="137160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207008"/>
            <a:ext cx="12984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So series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170432"/>
            <a:ext cx="722376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207008"/>
            <a:ext cx="71506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Noi dung thuc su (giai thich chi tiet)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09344"/>
            <a:ext cx="16459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1" y="1636776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M4 Daily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609344"/>
            <a:ext cx="1188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47672" y="1636776"/>
            <a:ext cx="1133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Daily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1609344"/>
            <a:ext cx="13716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6392" y="1636776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4,227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1609344"/>
            <a:ext cx="72237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1636776"/>
            <a:ext cx="7168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Business/macro competition — mot so stock, khong co Asian equity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048256"/>
            <a:ext cx="164592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1" y="2075688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M4 Monthly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2048256"/>
            <a:ext cx="118872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47672" y="2075688"/>
            <a:ext cx="1133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Monthly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2048256"/>
            <a:ext cx="137160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36392" y="2075688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48,000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048256"/>
            <a:ext cx="722376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2075688"/>
            <a:ext cx="7168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Kinh te vi mo, demographic, industry sectors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87168"/>
            <a:ext cx="16459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1" y="2514599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M1/M3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2487168"/>
            <a:ext cx="1188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47672" y="2514599"/>
            <a:ext cx="1133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2487168"/>
            <a:ext cx="13716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36392" y="2514599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~3,000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2487168"/>
            <a:ext cx="72237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7992" y="2514599"/>
            <a:ext cx="7168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Macro + business forecasting competition tong hop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926080"/>
            <a:ext cx="164592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1" y="295351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FRED-MD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2926080"/>
            <a:ext cx="118872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47672" y="2953512"/>
            <a:ext cx="1133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Monthly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2926080"/>
            <a:ext cx="137160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36392" y="2953512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107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0" y="2926080"/>
            <a:ext cx="722376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07992" y="2953512"/>
            <a:ext cx="7168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Federal Reserve macro indicators (CPI, lai suat, employment) — chi My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364991"/>
            <a:ext cx="16459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1" y="3392423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Bitcoin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3364991"/>
            <a:ext cx="1188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47672" y="3392423"/>
            <a:ext cx="1133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Daily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3364991"/>
            <a:ext cx="13716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36392" y="3392423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18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3364991"/>
            <a:ext cx="72237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07992" y="3392423"/>
            <a:ext cx="7168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Crypto price — DUY NHAT daily price series (khong phai stock equity)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803904"/>
            <a:ext cx="164592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1751" y="3831336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NN5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3803904"/>
            <a:ext cx="118872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47672" y="3831336"/>
            <a:ext cx="1133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Daily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0" y="3803904"/>
            <a:ext cx="137160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36392" y="3831336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111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0" y="3803904"/>
            <a:ext cx="7223760" cy="43891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07992" y="3831336"/>
            <a:ext cx="7168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ATM cash withdrawal UK — bi label nham 'Econ/Fin', KHONG phai stock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242816"/>
            <a:ext cx="16459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1751" y="4270248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GoDaddy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20240" y="4242816"/>
            <a:ext cx="1188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47672" y="4270248"/>
            <a:ext cx="1133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Monthly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08960" y="4242816"/>
            <a:ext cx="13716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36392" y="4270248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3,135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80560" y="4242816"/>
            <a:ext cx="72237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07992" y="4270248"/>
            <a:ext cx="7168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Domain registration business data — khong lien quan den stock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315968"/>
            <a:ext cx="11612880" cy="2304288"/>
          </a:xfrm>
          <a:prstGeom prst="rect">
            <a:avLst/>
          </a:prstGeom>
          <a:solidFill>
            <a:srgbClr val="FFECEC"/>
          </a:solidFill>
          <a:ln w="19050">
            <a:solidFill>
              <a:srgbClr val="AA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3616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2222"/>
                </a:solidFill>
              </a:rPr>
              <a:t>Ket Luan — Domain Gap La Nguyen Nhan Co Cau: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709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>
                <a:solidFill>
                  <a:srgbClr val="333333"/>
                </a:solidFill>
              </a:rPr>
              <a:t>KHONG co equity/stock market data thuc su — chi 18 series Bitcoin daily trong 4.5M series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333333"/>
                </a:solidFill>
              </a:rPr>
              <a:t>KHONG co Asian market data — toan bo corpus la US/EU-centric (FRED-MD, M4 competition)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333333"/>
                </a:solidFill>
              </a:rPr>
              <a:t>KHONG co realized volatility series — Moirai2 chua bao gio thay RV labels trong pretraining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333333"/>
                </a:solidFill>
              </a:rPr>
              <a:t>=&gt; Embedding 384-dim phan anh macro trend/seasonality patterns, KHONG phai second-moment structure cua stock vol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333333"/>
                </a:solidFill>
              </a:rPr>
              <a:t>=&gt; Day la giai thich co cau cho median|corr(embedding, RV)| = 0.128 tren tat ca 384 chieu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Ket 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5 insights chinh tu thi nghiem VN30 Volatility 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76C"/>
                </a:solidFill>
              </a:rPr>
              <a:t>(1) Domain gap la nguyen nhan co cau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45336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Moirai2 pretrain tren macro/business data (M4, FRED-MD). Khong co equity/Asian/RV data. Embedding encode macro trend, khong phai second-moment structure =&gt; median|corr|=0.128.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58568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9514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76C"/>
                </a:solidFill>
              </a:rPr>
              <a:t>(2) Training regime la nut that chinh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60903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Walk-forward (30 mau/buoc) → Batch (2,896 mau): giam 35-48% MAE. Training regime quan trong hon kien truc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74135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10711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76C"/>
                </a:solidFill>
              </a:rPr>
              <a:t>(3) HAR-RV (OLS) van la benchmark champion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764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R2=0.971 vs best neural R2=0.278. Gap 6.5x MAE la co cau: OLS per-stock 2,500+ mau, 3 params, BLUE estimator.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489703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52627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76C"/>
                </a:solidFill>
              </a:rPr>
              <a:t>(4) IQR zero-shot — phat hien dac biet cua luan van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9204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Moirai2 IQR (q0.9-q0.1) dat Pearson_r=0.557 = MLP trained (r=0.551). Uncertainty calibration hoat dong du domain gap — model hoc duoc heteroscedasticity.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605271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41847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76C"/>
                </a:solidFill>
              </a:rPr>
              <a:t>(5) Embedding Moirai2 them nhieu khi co RV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07607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MLP(Moirai2+RV6) MAE tang 8.4% vs MLP(RV6). 384-dim return embedding 'nhan chim' 6-dim RV signal — hai khong gian feature orthogonal voi nhau.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Huong Cai Thien Tiep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SOTA research 2024-2025: HAR-RV co the bi vuot voi dieu kien phu 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128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417320" cy="157276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45920"/>
            <a:ext cx="1417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Uu tien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216152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HAR-RS (Semivariance)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627632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Thay the HAR-OLS bang semivariance decomposition: RV+ (return duong) va RV- (return am). Van la OLS, 5 tham so thay vi 3. Bat duoc leverage effect (downside vol du bao tot hon upside). Patton &amp; Sheppard (2015): nhat quan vuot HAR o h=5,10,22 ngay — phu hop voi h=20 cua thi nghiem. ~10 dong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2161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777777"/>
                </a:solidFill>
              </a:rPr>
              <a:t>De, 1-2 gio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89504"/>
            <a:ext cx="116128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2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89504"/>
            <a:ext cx="1417320" cy="1572768"/>
          </a:xfrm>
          <a:prstGeom prst="rect">
            <a:avLst/>
          </a:prstGeom>
          <a:solidFill>
            <a:srgbClr val="2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364992"/>
            <a:ext cx="1417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Uu tien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3522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EB4"/>
                </a:solidFill>
              </a:rPr>
              <a:t>GNN + QLIKE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346704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GNNHAR (Zhang et al., IJF 2025): GNN+QLIKE giam 13% MSE vs HAR tren US equity. Hien tai GNN dung MSE — doi sang QLIKE giup xu ly heteroskedasticity tot hon. Them cross-stock correlation graph tu daily returns. Khong can intraday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9352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777777"/>
                </a:solidFill>
              </a:rPr>
              <a:t>Vua, 1-2 ngay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08576"/>
            <a:ext cx="116128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E69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608576"/>
            <a:ext cx="1417320" cy="1572768"/>
          </a:xfrm>
          <a:prstGeom prst="rect">
            <a:avLst/>
          </a:prstGeom>
          <a:solidFill>
            <a:srgbClr val="E69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084064"/>
            <a:ext cx="1417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Uu tien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654296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9B1A"/>
                </a:solidFill>
              </a:rPr>
              <a:t>Foundation Model Fine-tuning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065776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arxiv 2505.11163 (May 2025): TimesFM + incremental fine-tuning vuot HAR-RV thong ke (DM test) tren 21 chi so toan cau. Co the ap dung tuong tu cho Moirai2 voi LoRA adapter tren VN30 log-returns. Risk: phuc tap, co the ngoai pham vi luan van.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6542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777777"/>
                </a:solidFill>
              </a:rPr>
              <a:t>Dai 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